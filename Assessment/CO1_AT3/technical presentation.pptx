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2" r:id="rId3"/>
    <p:sldId id="258" r:id="rId4"/>
    <p:sldId id="284" r:id="rId5"/>
    <p:sldId id="272" r:id="rId6"/>
    <p:sldId id="273" r:id="rId7"/>
    <p:sldId id="285" r:id="rId8"/>
    <p:sldId id="291" r:id="rId9"/>
    <p:sldId id="270" r:id="rId10"/>
  </p:sldIdLst>
  <p:sldSz cx="18288000" cy="10287000"/>
  <p:notesSz cx="6858000" cy="9144000"/>
  <p:embeddedFontLst>
    <p:embeddedFont>
      <p:font typeface="Bookman Old Style" panose="02050604050505020204" pitchFamily="18" charset="0"/>
      <p:regular r:id="rId11"/>
      <p:bold r:id="rId12"/>
      <p:italic r:id="rId13"/>
      <p:boldItalic r:id="rId14"/>
    </p:embeddedFont>
    <p:embeddedFont>
      <p:font typeface="Monotype Corsiva" panose="03010101010201010101" pitchFamily="66" charset="0"/>
      <p:italic r:id="rId15"/>
    </p:embeddedFont>
    <p:embeddedFont>
      <p:font typeface="Poppins Light" panose="00000400000000000000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22" autoAdjust="0"/>
  </p:normalViewPr>
  <p:slideViewPr>
    <p:cSldViewPr>
      <p:cViewPr varScale="1">
        <p:scale>
          <a:sx n="52" d="100"/>
          <a:sy n="52" d="100"/>
        </p:scale>
        <p:origin x="6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ali Krishna Pasam" userId="3201d31993264e6a" providerId="LiveId" clId="{1854BF9B-9029-4A52-857A-B765161C6470}"/>
    <pc:docChg chg="modSld">
      <pc:chgData name="Murali Krishna Pasam" userId="3201d31993264e6a" providerId="LiveId" clId="{1854BF9B-9029-4A52-857A-B765161C6470}" dt="2026-07-22T04:40:44.866" v="1" actId="34476"/>
      <pc:docMkLst>
        <pc:docMk/>
      </pc:docMkLst>
      <pc:sldChg chg="mod modShow">
        <pc:chgData name="Murali Krishna Pasam" userId="3201d31993264e6a" providerId="LiveId" clId="{1854BF9B-9029-4A52-857A-B765161C6470}" dt="2026-07-22T04:40:44.866" v="1" actId="34476"/>
        <pc:sldMkLst>
          <pc:docMk/>
          <pc:sldMk cId="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28800" y="3314700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79929" y="3037403"/>
            <a:ext cx="16003307" cy="1909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ANALYSIS OF LINEAR SEARCH: BEST, AVERAGE, AND WORST CASE</a:t>
            </a:r>
            <a:endParaRPr lang="en-US" sz="4400" spc="-253" dirty="0">
              <a:solidFill>
                <a:schemeClr val="bg1"/>
              </a:solidFill>
              <a:latin typeface="Times New Roman" panose="02020603050405020304" pitchFamily="18" charset="0"/>
              <a:ea typeface="Poppins Light"/>
              <a:cs typeface="Times New Roman" pitchFamily="18" charset="0"/>
              <a:sym typeface="Poppins Light"/>
            </a:endParaRPr>
          </a:p>
        </p:txBody>
      </p:sp>
      <p:sp>
        <p:nvSpPr>
          <p:cNvPr id="16" name="AutoShape 2" descr="Saveetha Institute of Medical and Technical Science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4" descr="Saveetha Institute of Medical and Technical Science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3" name="Picture 9" descr="C:\Users\USER\Downloads\TWO+Logo-removebg-previ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08" y="571500"/>
            <a:ext cx="17294225" cy="208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779929" y="5146476"/>
            <a:ext cx="90870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Bookman Old Style" pitchFamily="18" charset="0"/>
              </a:rPr>
              <a:t>CSA0606-Design and Analysis of Algorithm</a:t>
            </a:r>
          </a:p>
          <a:p>
            <a:r>
              <a:rPr lang="en-IN" sz="3200" dirty="0">
                <a:solidFill>
                  <a:schemeClr val="bg1"/>
                </a:solidFill>
                <a:latin typeface="Bookman Old Style" pitchFamily="18" charset="0"/>
              </a:rPr>
              <a:t>SLOT-B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6400" y="7633926"/>
            <a:ext cx="8305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Bookman Old Style" pitchFamily="18" charset="0"/>
              </a:rPr>
              <a:t>Presented by</a:t>
            </a:r>
            <a:endParaRPr lang="en-IN" sz="2800" dirty="0">
              <a:solidFill>
                <a:schemeClr val="bg1"/>
              </a:solidFill>
              <a:latin typeface="Bookman Old Style" pitchFamily="18" charset="0"/>
            </a:endParaRPr>
          </a:p>
          <a:p>
            <a:r>
              <a:rPr lang="en-IN" sz="2800" dirty="0">
                <a:solidFill>
                  <a:schemeClr val="bg1"/>
                </a:solidFill>
                <a:latin typeface="Bookman Old Style" pitchFamily="18" charset="0"/>
              </a:rPr>
              <a:t>B Muni Chandini(192524283)</a:t>
            </a:r>
          </a:p>
          <a:p>
            <a:r>
              <a:rPr lang="en-IN" sz="2800" dirty="0" err="1">
                <a:solidFill>
                  <a:schemeClr val="bg1"/>
                </a:solidFill>
                <a:latin typeface="Bookman Old Style" pitchFamily="18" charset="0"/>
              </a:rPr>
              <a:t>B.Tech</a:t>
            </a:r>
            <a:r>
              <a:rPr lang="en-IN" sz="2800" dirty="0">
                <a:solidFill>
                  <a:schemeClr val="bg1"/>
                </a:solidFill>
                <a:latin typeface="Bookman Old Style" pitchFamily="18" charset="0"/>
              </a:rPr>
              <a:t> AI&amp;DS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FD043-F046-3D2D-025F-447DFCC91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A80A84-F597-BC2D-3FA1-A05427D7D329}"/>
              </a:ext>
            </a:extLst>
          </p:cNvPr>
          <p:cNvSpPr/>
          <p:nvPr/>
        </p:nvSpPr>
        <p:spPr>
          <a:xfrm>
            <a:off x="1828800" y="3314700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16" name="AutoShape 2" descr="Saveetha Institute of Medical and Technical Sciences ...">
            <a:extLst>
              <a:ext uri="{FF2B5EF4-FFF2-40B4-BE49-F238E27FC236}">
                <a16:creationId xmlns:a16="http://schemas.microsoft.com/office/drawing/2014/main" id="{6B8D099E-92E4-185D-0A43-D1A90BF7E0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4" descr="Saveetha Institute of Medical and Technical Sciences ...">
            <a:extLst>
              <a:ext uri="{FF2B5EF4-FFF2-40B4-BE49-F238E27FC236}">
                <a16:creationId xmlns:a16="http://schemas.microsoft.com/office/drawing/2014/main" id="{43CCBAD7-A703-FB9F-2B38-84A4C4045E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187912-7A3B-7121-B160-44340C77BFBA}"/>
              </a:ext>
            </a:extLst>
          </p:cNvPr>
          <p:cNvSpPr txBox="1"/>
          <p:nvPr/>
        </p:nvSpPr>
        <p:spPr>
          <a:xfrm>
            <a:off x="612775" y="812512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Bookman Old Style" pitchFamily="18" charset="0"/>
              </a:rPr>
              <a:t>Geo Tag Photo</a:t>
            </a:r>
            <a:endParaRPr lang="en-IN" sz="2800" dirty="0">
              <a:solidFill>
                <a:schemeClr val="bg1"/>
              </a:solidFill>
              <a:latin typeface="Bookman Old Style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62A06-3D29-AE3B-3F9F-6E0D6870FD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04900"/>
            <a:ext cx="6448425" cy="859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490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610278" y="0"/>
            <a:ext cx="3876497" cy="10287000"/>
            <a:chOff x="0" y="0"/>
            <a:chExt cx="102097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0970" cy="2709333"/>
            </a:xfrm>
            <a:custGeom>
              <a:avLst/>
              <a:gdLst/>
              <a:ahLst/>
              <a:cxnLst/>
              <a:rect l="l" t="t" r="r" b="b"/>
              <a:pathLst>
                <a:path w="1020970" h="2709333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4610278" y="-342900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05000" y="633694"/>
            <a:ext cx="5905500" cy="73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800" b="1" dirty="0">
                <a:solidFill>
                  <a:srgbClr val="FFFFFF"/>
                </a:solidFill>
                <a:latin typeface="Times New Roman" pitchFamily="18" charset="0"/>
                <a:ea typeface="Poppins Light"/>
                <a:cs typeface="Times New Roman" pitchFamily="18" charset="0"/>
                <a:sym typeface="Poppins Light"/>
              </a:rPr>
              <a:t>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650742"/>
            <a:ext cx="14636086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Searching?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Searching is the process of finding a specific element (the 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within a collection of data.</a:t>
            </a:r>
          </a:p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a fundamental operation in computer science, used in databases, file systems, and everyday applications.</a:t>
            </a:r>
          </a:p>
          <a:p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IN" sz="3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Efficiency?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all searches are equal. The time taken depends on: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input (n).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position of the target element.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Whether the target exists at all.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 of this Presentation: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</a:t>
            </a:r>
            <a:r>
              <a:rPr lang="en-IN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 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algorithm.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will examine its performance in the 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Worst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cases using 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Asymptotic Notations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(Big-O, Big-Θ, Big-Ω).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610278" y="0"/>
            <a:ext cx="3876497" cy="10287000"/>
            <a:chOff x="0" y="0"/>
            <a:chExt cx="102097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0970" cy="2709333"/>
            </a:xfrm>
            <a:custGeom>
              <a:avLst/>
              <a:gdLst/>
              <a:ahLst/>
              <a:cxnLst/>
              <a:rect l="l" t="t" r="r" b="b"/>
              <a:pathLst>
                <a:path w="1020970" h="2709333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7848600" y="266700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43000" y="1909914"/>
            <a:ext cx="15011400" cy="83099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 an array </a:t>
            </a:r>
            <a:r>
              <a:rPr lang="en-IN" sz="3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[] of n elements and a 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key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x, find the index position of x in the array. If x is not present, return -1.</a:t>
            </a:r>
          </a:p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Conditions: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array can be 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sorted or unsorted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(Linear Search works on both).</a:t>
            </a:r>
          </a:p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size n can be very large or very small.</a:t>
            </a:r>
          </a:p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target x can be: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very beginning (Best Case).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Somewhere in the middle (Average Case).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very end or not present (Worst Case).</a:t>
            </a:r>
          </a:p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measure how the runtime scales as n grows under these three distinct input conditions.</a:t>
            </a:r>
          </a:p>
          <a:p>
            <a:b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ea typeface="Poppins Light"/>
              <a:cs typeface="Times New Roman" pitchFamily="18" charset="0"/>
              <a:sym typeface="Poppins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6504A5-4DC1-271C-1C0B-B3DB659A7F66}"/>
              </a:ext>
            </a:extLst>
          </p:cNvPr>
          <p:cNvSpPr txBox="1"/>
          <p:nvPr/>
        </p:nvSpPr>
        <p:spPr>
          <a:xfrm>
            <a:off x="914400" y="723900"/>
            <a:ext cx="6019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Problem Statement</a:t>
            </a:r>
          </a:p>
          <a:p>
            <a:endParaRPr lang="en-IN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239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610278" y="0"/>
            <a:ext cx="3876497" cy="10287000"/>
            <a:chOff x="0" y="0"/>
            <a:chExt cx="102097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0970" cy="2709333"/>
            </a:xfrm>
            <a:custGeom>
              <a:avLst/>
              <a:gdLst/>
              <a:ahLst/>
              <a:cxnLst/>
              <a:rect l="l" t="t" r="r" b="b"/>
              <a:pathLst>
                <a:path w="1020970" h="2709333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8077200" y="-1257300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62000" y="342900"/>
            <a:ext cx="13970458" cy="1457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endParaRPr lang="en-US" sz="5400" b="1" dirty="0">
              <a:solidFill>
                <a:srgbClr val="C3C5C6"/>
              </a:solidFill>
              <a:latin typeface="Times New Roman" pitchFamily="18" charset="0"/>
              <a:ea typeface="Poppins Light"/>
              <a:cs typeface="Times New Roman" pitchFamily="18" charset="0"/>
              <a:sym typeface="Poppins Light"/>
            </a:endParaRPr>
          </a:p>
          <a:p>
            <a:pPr algn="l">
              <a:lnSpc>
                <a:spcPts val="5600"/>
              </a:lnSpc>
            </a:pPr>
            <a:endParaRPr lang="en-US" sz="5600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5916" y="2183626"/>
            <a:ext cx="700871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Algorithm: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from the leftmost element of the array.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each element with the target x.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 match is found, return the index.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end of the array is reached, return -1 (not found).</a:t>
            </a:r>
          </a:p>
          <a:p>
            <a:endParaRPr lang="en-US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5916" y="1077460"/>
            <a:ext cx="7391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/ Pseudocode</a:t>
            </a:r>
          </a:p>
          <a:p>
            <a:endParaRPr lang="en-IN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604CAB-5D64-4B8F-B13F-F368C14E9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0" y="3574724"/>
            <a:ext cx="6339606" cy="51131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06CC32-94B0-164C-252A-39DA93250064}"/>
              </a:ext>
            </a:extLst>
          </p:cNvPr>
          <p:cNvSpPr txBox="1"/>
          <p:nvPr/>
        </p:nvSpPr>
        <p:spPr>
          <a:xfrm>
            <a:off x="10630258" y="2814358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Pseudocode:</a:t>
            </a: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361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610278" y="60818"/>
            <a:ext cx="3876497" cy="10287000"/>
            <a:chOff x="0" y="0"/>
            <a:chExt cx="102097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0970" cy="2709333"/>
            </a:xfrm>
            <a:custGeom>
              <a:avLst/>
              <a:gdLst/>
              <a:ahLst/>
              <a:cxnLst/>
              <a:rect l="l" t="t" r="r" b="b"/>
              <a:pathLst>
                <a:path w="1020970" h="2709333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5778957" y="342900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13105" y="876300"/>
            <a:ext cx="11989257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Architecture Diagram (Flowchart)</a:t>
            </a:r>
          </a:p>
          <a:p>
            <a:pPr>
              <a:lnSpc>
                <a:spcPts val="5600"/>
              </a:lnSpc>
            </a:pP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ea typeface="Poppins Light"/>
              <a:cs typeface="Times New Roman" pitchFamily="18" charset="0"/>
              <a:sym typeface="Poppins Light"/>
            </a:endParaRPr>
          </a:p>
          <a:p>
            <a:pPr>
              <a:lnSpc>
                <a:spcPts val="5600"/>
              </a:lnSpc>
            </a:pP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ea typeface="Poppins Light"/>
              <a:cs typeface="Times New Roman" pitchFamily="18" charset="0"/>
              <a:sym typeface="Poppins Ligh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EC5F62-6934-BCF5-E316-2F7782744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1" y="1943100"/>
            <a:ext cx="70866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326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610278" y="60818"/>
            <a:ext cx="3876497" cy="10287000"/>
            <a:chOff x="0" y="0"/>
            <a:chExt cx="102097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0970" cy="2709333"/>
            </a:xfrm>
            <a:custGeom>
              <a:avLst/>
              <a:gdLst/>
              <a:ahLst/>
              <a:cxnLst/>
              <a:rect l="l" t="t" r="r" b="b"/>
              <a:pathLst>
                <a:path w="1020970" h="2709333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8310282" y="-419100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681708" y="775335"/>
            <a:ext cx="11989257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(Code)</a:t>
            </a:r>
          </a:p>
          <a:p>
            <a:pPr>
              <a:lnSpc>
                <a:spcPts val="5600"/>
              </a:lnSpc>
            </a:pP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ea typeface="Poppins Light"/>
              <a:cs typeface="Times New Roman" pitchFamily="18" charset="0"/>
              <a:sym typeface="Poppins Light"/>
            </a:endParaRPr>
          </a:p>
          <a:p>
            <a:pPr>
              <a:lnSpc>
                <a:spcPts val="5600"/>
              </a:lnSpc>
            </a:pP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ea typeface="Poppins Light"/>
              <a:cs typeface="Times New Roman" pitchFamily="18" charset="0"/>
              <a:sym typeface="Poppins Ligh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7552" y="2441965"/>
            <a:ext cx="6334532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def 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linear_search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x):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"""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Performs Linear Search on an array.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Args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List of elements.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x: Target element to search.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Returns: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Index of x if found, else -1.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"""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for 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in range(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len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)):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if 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arr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] == x: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      return 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return -1</a:t>
            </a:r>
          </a:p>
          <a:p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F320E1-12F3-E378-78B8-239A307473CD}"/>
              </a:ext>
            </a:extLst>
          </p:cNvPr>
          <p:cNvSpPr txBox="1"/>
          <p:nvPr/>
        </p:nvSpPr>
        <p:spPr>
          <a:xfrm>
            <a:off x="9674769" y="2441965"/>
            <a:ext cx="7696200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# Example Usage</a:t>
            </a:r>
          </a:p>
          <a:p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my_list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[10, 23, 45, 70, 11, 15, 89]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target = 70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result = 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linear_search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my_list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target)</a:t>
            </a:r>
          </a:p>
          <a:p>
            <a:endParaRPr lang="en-US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if result != -1: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f"Element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{target} found at index {result}.")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else: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print(</a:t>
            </a:r>
            <a:r>
              <a:rPr lang="en-US" sz="32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f"Element</a:t>
            </a:r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{target} not found in the list.")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Output:</a:t>
            </a:r>
          </a:p>
          <a:p>
            <a:r>
              <a:rPr lang="en-US" sz="3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Element 70 found at index 3.</a:t>
            </a:r>
            <a:endParaRPr lang="en-IN" sz="32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838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610278" y="0"/>
            <a:ext cx="3876497" cy="10287000"/>
            <a:chOff x="0" y="0"/>
            <a:chExt cx="1020970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0970" cy="2709333"/>
            </a:xfrm>
            <a:custGeom>
              <a:avLst/>
              <a:gdLst/>
              <a:ahLst/>
              <a:cxnLst/>
              <a:rect l="l" t="t" r="r" b="b"/>
              <a:pathLst>
                <a:path w="1020970" h="2709333">
                  <a:moveTo>
                    <a:pt x="0" y="0"/>
                  </a:moveTo>
                  <a:lnTo>
                    <a:pt x="1020970" y="0"/>
                  </a:lnTo>
                  <a:lnTo>
                    <a:pt x="102097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50000">
                  <a:srgbClr val="000000">
                    <a:alpha val="48500"/>
                  </a:srgbClr>
                </a:gs>
                <a:gs pos="100000">
                  <a:srgbClr val="00000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20970" cy="2699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8305800" y="-723900"/>
            <a:ext cx="16230600" cy="6881774"/>
          </a:xfrm>
          <a:custGeom>
            <a:avLst/>
            <a:gdLst/>
            <a:ahLst/>
            <a:cxnLst/>
            <a:rect l="l" t="t" r="r" b="b"/>
            <a:pathLst>
              <a:path w="16230600" h="6881774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11" name="TextBox 10"/>
          <p:cNvSpPr txBox="1"/>
          <p:nvPr/>
        </p:nvSpPr>
        <p:spPr>
          <a:xfrm>
            <a:off x="2148840" y="2228017"/>
            <a:ext cx="1332155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Search is simple but inefficient for large datasets.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Case (Ω(1))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practically useless as a performance metric because it relies on luck.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Case (Θ(n))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is useful when dealing with random, unsorted data.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Worst Case (O(n)) is the MOST SIGNIFICANT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because:</a:t>
            </a:r>
          </a:p>
          <a:p>
            <a:pPr lvl="1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 </a:t>
            </a:r>
            <a:r>
              <a:rPr lang="en-IN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guarantee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on the maximum time required.</a:t>
            </a:r>
          </a:p>
          <a:p>
            <a:pPr lvl="1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applications (e.g., checking for the </a:t>
            </a:r>
            <a:r>
              <a:rPr lang="en-IN" sz="36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absence</a:t>
            </a:r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of a record, like a username availability check), the algorithm must scan the entire list.</a:t>
            </a:r>
          </a:p>
          <a:p>
            <a:pPr lvl="1"/>
            <a:r>
              <a:rPr lang="en-IN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allows us to make robust system design decisions </a:t>
            </a:r>
          </a:p>
          <a:p>
            <a:pPr marL="457200" indent="-457200">
              <a:buFont typeface="Arial" pitchFamily="34" charset="0"/>
              <a:buChar char="•"/>
            </a:pPr>
            <a:endParaRPr lang="en-IN" sz="3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 flipH="1">
            <a:off x="2362200" y="1901953"/>
            <a:ext cx="69780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40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81C621-654C-E090-4680-09DF4300F071}"/>
              </a:ext>
            </a:extLst>
          </p:cNvPr>
          <p:cNvSpPr txBox="1"/>
          <p:nvPr/>
        </p:nvSpPr>
        <p:spPr>
          <a:xfrm>
            <a:off x="1828800" y="800100"/>
            <a:ext cx="751146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125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60051" y="2866444"/>
            <a:ext cx="567898" cy="0"/>
          </a:xfrm>
          <a:prstGeom prst="line">
            <a:avLst/>
          </a:prstGeom>
          <a:ln w="38100" cap="flat">
            <a:solidFill>
              <a:srgbClr val="D2B99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381000" y="1562100"/>
            <a:ext cx="18288000" cy="7754112"/>
          </a:xfrm>
          <a:custGeom>
            <a:avLst/>
            <a:gdLst/>
            <a:ahLst/>
            <a:cxnLst/>
            <a:rect l="l" t="t" r="r" b="b"/>
            <a:pathLst>
              <a:path w="18288000" h="7754112">
                <a:moveTo>
                  <a:pt x="0" y="0"/>
                </a:moveTo>
                <a:lnTo>
                  <a:pt x="18288000" y="0"/>
                </a:lnTo>
                <a:lnTo>
                  <a:pt x="18288000" y="7754112"/>
                </a:lnTo>
                <a:lnTo>
                  <a:pt x="0" y="7754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475199" y="4683070"/>
            <a:ext cx="5905500" cy="907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9600" dirty="0">
                <a:solidFill>
                  <a:srgbClr val="FFFFFF"/>
                </a:solidFill>
                <a:latin typeface="Monotype Corsiva" pitchFamily="66" charset="0"/>
                <a:ea typeface="Poppins Light"/>
                <a:cs typeface="Poppins Light"/>
                <a:sym typeface="Poppins Light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613</Words>
  <Application>Microsoft Office PowerPoint</Application>
  <PresentationFormat>Custom</PresentationFormat>
  <Paragraphs>77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Arial</vt:lpstr>
      <vt:lpstr>Poppins Light</vt:lpstr>
      <vt:lpstr>Monotype Corsiva</vt:lpstr>
      <vt:lpstr>Calibri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Chandini_Ramaiah</dc:creator>
  <cp:lastModifiedBy>Murali Krishna Pasam</cp:lastModifiedBy>
  <cp:revision>35</cp:revision>
  <dcterms:created xsi:type="dcterms:W3CDTF">2006-08-16T00:00:00Z</dcterms:created>
  <dcterms:modified xsi:type="dcterms:W3CDTF">2026-07-22T06:07:31Z</dcterms:modified>
  <dc:identifier>DAHKx7NrsTY</dc:identifier>
</cp:coreProperties>
</file>